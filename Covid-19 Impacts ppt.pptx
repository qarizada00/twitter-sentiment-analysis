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7"/>
  </p:notesMasterIdLst>
  <p:handoutMasterIdLst>
    <p:handoutMasterId r:id="rId18"/>
  </p:handoutMasterIdLst>
  <p:sldIdLst>
    <p:sldId id="257" r:id="rId5"/>
    <p:sldId id="268" r:id="rId6"/>
    <p:sldId id="273" r:id="rId7"/>
    <p:sldId id="262" r:id="rId8"/>
    <p:sldId id="274" r:id="rId9"/>
    <p:sldId id="275" r:id="rId10"/>
    <p:sldId id="276" r:id="rId11"/>
    <p:sldId id="277" r:id="rId12"/>
    <p:sldId id="267" r:id="rId13"/>
    <p:sldId id="269" r:id="rId14"/>
    <p:sldId id="278" r:id="rId15"/>
    <p:sldId id="270" r:id="rId16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111" d="100"/>
          <a:sy n="111" d="100"/>
        </p:scale>
        <p:origin x="594" y="96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5/23/2022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5/23/2022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229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5/23/2022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5/23/2022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5/23/2022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5/23/2022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5/23/2022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5/23/2022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5/23/2022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5/23/2022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5/23/2022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5/23/2022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5/23/2022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5/23/2022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Covid-19 Impacts on Education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Sentiment Analysis using Natural language processing methods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608EA1-FD82-FA97-8EC6-CB931F32BC5B}"/>
              </a:ext>
            </a:extLst>
          </p:cNvPr>
          <p:cNvSpPr txBox="1"/>
          <p:nvPr/>
        </p:nvSpPr>
        <p:spPr>
          <a:xfrm>
            <a:off x="5742459" y="3907135"/>
            <a:ext cx="50324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Author: Nasibullah Qarizada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84FAA4-0A98-D1E1-4D21-B40125550FBD}"/>
              </a:ext>
            </a:extLst>
          </p:cNvPr>
          <p:cNvSpPr txBox="1"/>
          <p:nvPr/>
        </p:nvSpPr>
        <p:spPr>
          <a:xfrm>
            <a:off x="5742459" y="4221088"/>
            <a:ext cx="50324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Instructor: Fatma Patlar Akbulut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2CC8FC-8AC5-8CC9-5A42-5C813B663EFA}"/>
              </a:ext>
            </a:extLst>
          </p:cNvPr>
          <p:cNvSpPr txBox="1"/>
          <p:nvPr/>
        </p:nvSpPr>
        <p:spPr>
          <a:xfrm>
            <a:off x="5734372" y="4552795"/>
            <a:ext cx="50324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Lecture: Artificial Intelligence, CSE0440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Gathering Dataset</a:t>
            </a:r>
          </a:p>
          <a:p>
            <a:r>
              <a:rPr lang="en-US" dirty="0"/>
              <a:t>Pre-Processing Dataset</a:t>
            </a:r>
          </a:p>
          <a:p>
            <a:r>
              <a:rPr lang="en-US" dirty="0"/>
              <a:t>Feature Engineering</a:t>
            </a:r>
          </a:p>
          <a:p>
            <a:r>
              <a:rPr lang="en-US" dirty="0"/>
              <a:t>Sentiment Analysis</a:t>
            </a:r>
          </a:p>
          <a:p>
            <a:r>
              <a:rPr lang="en-US" dirty="0"/>
              <a:t>Training data and comparing with Pre-trained.</a:t>
            </a:r>
          </a:p>
          <a:p>
            <a:r>
              <a:rPr lang="en-US" dirty="0"/>
              <a:t>Results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854053" y="116632"/>
            <a:ext cx="5256584" cy="1223963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1F881D-6D2A-AEFC-7F10-9BAE9A99EC91}"/>
              </a:ext>
            </a:extLst>
          </p:cNvPr>
          <p:cNvSpPr txBox="1"/>
          <p:nvPr/>
        </p:nvSpPr>
        <p:spPr>
          <a:xfrm>
            <a:off x="1341884" y="1628800"/>
            <a:ext cx="1000911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Covid-19 has changed everyone's traditional life.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Education is among most affected sections, which raised worries of lots of stakeholders.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Students and teachers are facing serious problems, such as financial, social and psychological.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Researchers started analyzing situations to define problems and search in ways of reducing them.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This research contains sentiment analysis of 10,000 tweets.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122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854053" y="116632"/>
            <a:ext cx="3456384" cy="1223963"/>
          </a:xfrm>
        </p:spPr>
        <p:txBody>
          <a:bodyPr/>
          <a:lstStyle/>
          <a:p>
            <a:r>
              <a:rPr lang="en-US" dirty="0"/>
              <a:t>Fetching Dataset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D3CA0F-90B2-F5DC-C123-D1E7B0EEB23D}"/>
              </a:ext>
            </a:extLst>
          </p:cNvPr>
          <p:cNvSpPr txBox="1"/>
          <p:nvPr/>
        </p:nvSpPr>
        <p:spPr>
          <a:xfrm>
            <a:off x="1269876" y="1772816"/>
            <a:ext cx="9793088" cy="1697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Twint is an API, used for a gathering data from twitter.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It has filtration method properties, which makes it easy for pre-processing.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We’ve been succeeded to gain 10,000 tweets to continue our research.</a:t>
            </a:r>
          </a:p>
        </p:txBody>
      </p:sp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9BBE4E77-71AE-6602-45D2-058F073F9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4727" y="3645024"/>
            <a:ext cx="4467849" cy="291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10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854053" y="116632"/>
            <a:ext cx="3168351" cy="1223963"/>
          </a:xfrm>
        </p:spPr>
        <p:txBody>
          <a:bodyPr/>
          <a:lstStyle/>
          <a:p>
            <a:r>
              <a:rPr lang="en-US" dirty="0"/>
              <a:t>Pre-Processing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1F881D-6D2A-AEFC-7F10-9BAE9A99EC91}"/>
              </a:ext>
            </a:extLst>
          </p:cNvPr>
          <p:cNvSpPr txBox="1"/>
          <p:nvPr/>
        </p:nvSpPr>
        <p:spPr>
          <a:xfrm>
            <a:off x="1341884" y="1628800"/>
            <a:ext cx="10009112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Pre-processing is the second step and unescapable part of data analyzing.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It is basically the operation of cleaning the gathered data.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 study on 2016 showed that data scientists spend 60% of their time doing pre-processing.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TextBlob, </a:t>
            </a:r>
            <a:r>
              <a:rPr lang="en-US" dirty="0" err="1"/>
              <a:t>neattext</a:t>
            </a:r>
            <a:r>
              <a:rPr lang="en-US" dirty="0"/>
              <a:t> and NLTK is some of Pre-Processing libraries and been used in this research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Some of Pre-Processing methods has been shared below: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604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854052" y="332656"/>
            <a:ext cx="4464496" cy="1223963"/>
          </a:xfrm>
        </p:spPr>
        <p:txBody>
          <a:bodyPr anchor="b">
            <a:normAutofit/>
          </a:bodyPr>
          <a:lstStyle/>
          <a:p>
            <a:r>
              <a:rPr lang="en-US" dirty="0"/>
              <a:t>Pre-Processing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E24B5A75-C7C6-DBD2-DA77-682F394C9D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883" y="2728524"/>
            <a:ext cx="10360501" cy="240881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32071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854053" y="116632"/>
            <a:ext cx="4104455" cy="1223963"/>
          </a:xfrm>
        </p:spPr>
        <p:txBody>
          <a:bodyPr/>
          <a:lstStyle/>
          <a:p>
            <a:r>
              <a:rPr lang="en-US" dirty="0"/>
              <a:t>Feature Engineering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1F881D-6D2A-AEFC-7F10-9BAE9A99EC91}"/>
              </a:ext>
            </a:extLst>
          </p:cNvPr>
          <p:cNvSpPr txBox="1"/>
          <p:nvPr/>
        </p:nvSpPr>
        <p:spPr>
          <a:xfrm>
            <a:off x="1341884" y="1628800"/>
            <a:ext cx="10009112" cy="1697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Feature Engineering is the process of selecting, manipulating and transforming raw data into that can be used in supervised learning.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BOG, TF-IDF and Word2Vec is most usable methods.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68DBD6A2-6E49-4ED6-E04F-6285057BFE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4012" y="3617730"/>
            <a:ext cx="6372557" cy="2438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677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854053" y="116632"/>
            <a:ext cx="3960439" cy="1223963"/>
          </a:xfrm>
        </p:spPr>
        <p:txBody>
          <a:bodyPr/>
          <a:lstStyle/>
          <a:p>
            <a:r>
              <a:rPr lang="en-US" dirty="0"/>
              <a:t>Sentiment Analyzes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1F881D-6D2A-AEFC-7F10-9BAE9A99EC91}"/>
              </a:ext>
            </a:extLst>
          </p:cNvPr>
          <p:cNvSpPr txBox="1"/>
          <p:nvPr/>
        </p:nvSpPr>
        <p:spPr>
          <a:xfrm>
            <a:off x="1341884" y="1628800"/>
            <a:ext cx="1000911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Sentiment Analyzes is the method of classifying the data into Positive, Negative and neutral forms.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TextBlob and Vader is most used of them, which has been also used in this project.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C478E230-C736-6468-D090-D58FEEA1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779" y="3854890"/>
            <a:ext cx="4382112" cy="2886478"/>
          </a:xfrm>
          <a:prstGeom prst="rect">
            <a:avLst/>
          </a:prstGeom>
        </p:spPr>
      </p:pic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A32675D4-FB01-BA51-0A59-1161CA5EB4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4935" y="5017102"/>
            <a:ext cx="5258534" cy="172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932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Sentiment Analyzes </a:t>
            </a:r>
          </a:p>
        </p:txBody>
      </p:sp>
      <p:pic>
        <p:nvPicPr>
          <p:cNvPr id="5" name="Content Placeholder 4" descr="Chart, bar chart&#10;&#10;Description automatically generated">
            <a:extLst>
              <a:ext uri="{FF2B5EF4-FFF2-40B4-BE49-F238E27FC236}">
                <a16:creationId xmlns:a16="http://schemas.microsoft.com/office/drawing/2014/main" id="{34773B59-FC2D-473B-2586-87243CBA88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5940" y="3212976"/>
            <a:ext cx="6954220" cy="2581635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EA4B75A-700C-B646-D75E-8BDE9A9F9260}"/>
              </a:ext>
            </a:extLst>
          </p:cNvPr>
          <p:cNvSpPr txBox="1"/>
          <p:nvPr/>
        </p:nvSpPr>
        <p:spPr>
          <a:xfrm>
            <a:off x="1701924" y="1608741"/>
            <a:ext cx="61075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TextBlob and Vader Results: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2C13C1-2766-368D-B56B-A47DCA7CC9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1032" y="2288696"/>
            <a:ext cx="6969128" cy="70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811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and testing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4294967295"/>
          </p:nvPr>
        </p:nvSpPr>
        <p:spPr>
          <a:xfrm>
            <a:off x="1295298" y="1653163"/>
            <a:ext cx="10030276" cy="122396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dataset has been trained with 3 models, consist of: LSTM, CNN and RNN.</a:t>
            </a:r>
          </a:p>
          <a:p>
            <a:r>
              <a:rPr lang="en-US" dirty="0"/>
              <a:t>Below is the LSTM model and result of different models on research.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EFE36E8D-A6B7-84D7-D0A0-42EA4B30EA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1320905"/>
              </p:ext>
            </p:extLst>
          </p:nvPr>
        </p:nvGraphicFramePr>
        <p:xfrm>
          <a:off x="6310436" y="3429000"/>
          <a:ext cx="526894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7237">
                  <a:extLst>
                    <a:ext uri="{9D8B030D-6E8A-4147-A177-3AD203B41FA5}">
                      <a16:colId xmlns:a16="http://schemas.microsoft.com/office/drawing/2014/main" val="1164372274"/>
                    </a:ext>
                  </a:extLst>
                </a:gridCol>
                <a:gridCol w="1317237">
                  <a:extLst>
                    <a:ext uri="{9D8B030D-6E8A-4147-A177-3AD203B41FA5}">
                      <a16:colId xmlns:a16="http://schemas.microsoft.com/office/drawing/2014/main" val="2539246417"/>
                    </a:ext>
                  </a:extLst>
                </a:gridCol>
                <a:gridCol w="1317237">
                  <a:extLst>
                    <a:ext uri="{9D8B030D-6E8A-4147-A177-3AD203B41FA5}">
                      <a16:colId xmlns:a16="http://schemas.microsoft.com/office/drawing/2014/main" val="3048254350"/>
                    </a:ext>
                  </a:extLst>
                </a:gridCol>
                <a:gridCol w="1317237">
                  <a:extLst>
                    <a:ext uri="{9D8B030D-6E8A-4147-A177-3AD203B41FA5}">
                      <a16:colId xmlns:a16="http://schemas.microsoft.com/office/drawing/2014/main" val="4202700902"/>
                    </a:ext>
                  </a:extLst>
                </a:gridCol>
              </a:tblGrid>
              <a:tr h="27368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RNN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981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TextBlob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6458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3626902"/>
                  </a:ext>
                </a:extLst>
              </a:tr>
            </a:tbl>
          </a:graphicData>
        </a:graphic>
      </p:graphicFrame>
      <p:pic>
        <p:nvPicPr>
          <p:cNvPr id="10" name="Picture 9" descr="Diagram&#10;&#10;Description automatically generated">
            <a:extLst>
              <a:ext uri="{FF2B5EF4-FFF2-40B4-BE49-F238E27FC236}">
                <a16:creationId xmlns:a16="http://schemas.microsoft.com/office/drawing/2014/main" id="{DF7C0ED2-4346-6D55-4E20-59913C2F08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3932" y="3128729"/>
            <a:ext cx="2324424" cy="334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911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</p:spPr>
        <p:txBody>
          <a:bodyPr anchor="b">
            <a:normAutofit/>
          </a:bodyPr>
          <a:lstStyle/>
          <a:p>
            <a:r>
              <a:rPr lang="en-US" dirty="0"/>
              <a:t>Training and testing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/>
          <a:p>
            <a:r>
              <a:rPr lang="en-US" dirty="0"/>
              <a:t>We’ve also trained the dataset with pre-trained models. </a:t>
            </a:r>
          </a:p>
          <a:p>
            <a:r>
              <a:rPr lang="en-US" dirty="0"/>
              <a:t>Logistic Regression, Random Forest, Support Vector Machine and Naïve Bayes.</a:t>
            </a:r>
          </a:p>
        </p:txBody>
      </p: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6CF08D29-B9C9-8463-EAE9-D158925778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0707" y="1819192"/>
            <a:ext cx="5078677" cy="424069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46319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</p:spPr>
        <p:txBody>
          <a:bodyPr anchor="b"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8883" y="1701797"/>
            <a:ext cx="10360501" cy="446227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Even if Covid-19 has been spreaded 3 years before, and the vaccine is out; The negative effects continues.</a:t>
            </a:r>
          </a:p>
          <a:p>
            <a:r>
              <a:rPr lang="en-US" dirty="0"/>
              <a:t>The data has been gathered from twitter with the help of Twint API.</a:t>
            </a:r>
          </a:p>
          <a:p>
            <a:r>
              <a:rPr lang="en-US" dirty="0"/>
              <a:t>Pre-processing and feature engineering methods has been applied in case to achieve sharp results.</a:t>
            </a:r>
          </a:p>
          <a:p>
            <a:r>
              <a:rPr lang="en-US" dirty="0"/>
              <a:t>TextBlob and Vader used to analyze and classify overall emotions of people regarding to changes. </a:t>
            </a:r>
          </a:p>
          <a:p>
            <a:r>
              <a:rPr lang="en-US" dirty="0"/>
              <a:t>And as last step model has been tested in cases of trained (LSTM, CNN and RNN) and pre-trained (LR,RF,SVM and Naïve bayes).</a:t>
            </a:r>
          </a:p>
          <a:p>
            <a:r>
              <a:rPr lang="en-US" dirty="0"/>
              <a:t>And we noticed that the number of negative tweets </a:t>
            </a:r>
            <a:r>
              <a:rPr lang="en-US"/>
              <a:t>were higher.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189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78</TotalTime>
  <Words>478</Words>
  <Application>Microsoft Office PowerPoint</Application>
  <PresentationFormat>Custom</PresentationFormat>
  <Paragraphs>63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Tech 16x9</vt:lpstr>
      <vt:lpstr>Covid-19 Impacts on Education</vt:lpstr>
      <vt:lpstr>Overview</vt:lpstr>
      <vt:lpstr>Introduction</vt:lpstr>
      <vt:lpstr>Fetching Dataset</vt:lpstr>
      <vt:lpstr>Pre-Processing</vt:lpstr>
      <vt:lpstr>Pre-Processing</vt:lpstr>
      <vt:lpstr>Feature Engineering</vt:lpstr>
      <vt:lpstr>Sentiment Analyzes </vt:lpstr>
      <vt:lpstr>Sentiment Analyzes </vt:lpstr>
      <vt:lpstr>Training and testing data</vt:lpstr>
      <vt:lpstr>Training and testing data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Covid-19 Impacts on Education</dc:title>
  <dc:creator>nasibullah qarizada</dc:creator>
  <cp:lastModifiedBy>nasibullah qarizada</cp:lastModifiedBy>
  <cp:revision>2</cp:revision>
  <dcterms:created xsi:type="dcterms:W3CDTF">2022-05-23T05:16:05Z</dcterms:created>
  <dcterms:modified xsi:type="dcterms:W3CDTF">2022-05-23T10:09:46Z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